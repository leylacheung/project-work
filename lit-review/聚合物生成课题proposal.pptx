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0999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88D6-B1C1-B484-B989-2BD986D7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2EEBF1-9F46-2BF9-95A3-CC8C9E97F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C420FA-0569-FF6C-3629-5CA22A10B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6C934-02C5-CCF3-456C-2C0AD4B99D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68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3654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784080" y="65105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Battery Polymer Generation | 1</a:t>
            </a:r>
            <a:endParaRPr lang="en-US" sz="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D8BA49-074A-1C50-6145-1C7368A027E9}"/>
              </a:ext>
            </a:extLst>
          </p:cNvPr>
          <p:cNvSpPr txBox="1"/>
          <p:nvPr/>
        </p:nvSpPr>
        <p:spPr>
          <a:xfrm>
            <a:off x="2408664" y="1967964"/>
            <a:ext cx="71096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- Polymer generation</a:t>
            </a:r>
            <a:r>
              <a:rPr kumimoji="1"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-US" altLang="zh-C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1D1D213-8BAA-098A-53ED-95EC2029CE00}"/>
              </a:ext>
            </a:extLst>
          </p:cNvPr>
          <p:cNvSpPr txBox="1"/>
          <p:nvPr/>
        </p:nvSpPr>
        <p:spPr>
          <a:xfrm>
            <a:off x="7257046" y="4595641"/>
            <a:ext cx="2608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 Oct.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1"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D1C0F-6937-856E-F4C2-2A9F15588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6E65B6-1DEF-C777-4CC1-97401296AFE4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3654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EF3085-E25B-75E5-BAF7-5E713297F5B2}"/>
              </a:ext>
            </a:extLst>
          </p:cNvPr>
          <p:cNvSpPr/>
          <p:nvPr/>
        </p:nvSpPr>
        <p:spPr>
          <a:xfrm>
            <a:off x="640080" y="96012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6547D"/>
                </a:solidFill>
                <a:latin typeface="Arial"/>
                <a:ea typeface="Microsoft YaHei"/>
              </a:rPr>
              <a:t>聚合物生成课题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7F4C92-D309-3A3E-8A64-986F424F68ED}"/>
              </a:ext>
            </a:extLst>
          </p:cNvPr>
          <p:cNvSpPr/>
          <p:nvPr/>
        </p:nvSpPr>
        <p:spPr>
          <a:xfrm>
            <a:off x="640080" y="1572768"/>
            <a:ext cx="6903720" cy="640080"/>
          </a:xfrm>
          <a:prstGeom prst="rect">
            <a:avLst/>
          </a:prstGeom>
          <a:noFill/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Arial"/>
                <a:ea typeface="Microsoft YaHei"/>
              </a:rPr>
              <a:t>生成目标选择与研究路线建议</a:t>
            </a:r>
            <a:endParaRPr lang="en-US" sz="3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5E8820F-9D3F-DC06-3427-DFB1DEF2093E}"/>
              </a:ext>
            </a:extLst>
          </p:cNvPr>
          <p:cNvSpPr/>
          <p:nvPr/>
        </p:nvSpPr>
        <p:spPr>
          <a:xfrm>
            <a:off x="685800" y="2395728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rial"/>
                <a:ea typeface="Microsoft YaHei"/>
              </a:rPr>
              <a:t>重点比较：均聚物、二元随机/统计共聚物、嵌段共聚物与序列感知共聚物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618EC5-FAAF-23CA-CA1F-22F645CBCE4F}"/>
              </a:ext>
            </a:extLst>
          </p:cNvPr>
          <p:cNvSpPr/>
          <p:nvPr/>
        </p:nvSpPr>
        <p:spPr>
          <a:xfrm>
            <a:off x="7818120" y="1694984"/>
            <a:ext cx="3474720" cy="1523703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Arial"/>
                <a:ea typeface="Microsoft YaHei"/>
              </a:rPr>
              <a:t>推荐第一阶段：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Arial"/>
                <a:ea typeface="Microsoft YaHei"/>
              </a:rPr>
              <a:t>Binary copolymer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Arial"/>
                <a:ea typeface="Microsoft YaHei"/>
              </a:rPr>
              <a:t>+ composition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Arial"/>
                <a:ea typeface="Microsoft YaHei"/>
              </a:rPr>
              <a:t>+ multi-property conditioning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58C2763-C303-0969-9641-627F556A3D4B}"/>
              </a:ext>
            </a:extLst>
          </p:cNvPr>
          <p:cNvSpPr/>
          <p:nvPr/>
        </p:nvSpPr>
        <p:spPr>
          <a:xfrm>
            <a:off x="832996" y="4297680"/>
            <a:ext cx="2545823" cy="960120"/>
          </a:xfrm>
          <a:prstGeom prst="rect">
            <a:avLst/>
          </a:prstGeom>
          <a:solidFill>
            <a:srgbClr val="F6F8FB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algn="ctr"/>
            <a:r>
              <a:rPr b="1" dirty="0" err="1">
                <a:solidFill>
                  <a:srgbClr val="1F2937"/>
                </a:solidFill>
                <a:latin typeface="Arial"/>
              </a:rPr>
              <a:t>目标应用</a:t>
            </a:r>
            <a:endParaRPr b="1" dirty="0">
              <a:solidFill>
                <a:srgbClr val="1F2937"/>
              </a:solidFill>
              <a:latin typeface="Arial"/>
            </a:endParaRPr>
          </a:p>
          <a:p>
            <a:pPr algn="ctr"/>
            <a:r>
              <a:rPr b="0" dirty="0" err="1">
                <a:solidFill>
                  <a:srgbClr val="1F2937"/>
                </a:solidFill>
                <a:latin typeface="Arial"/>
              </a:rPr>
              <a:t>电池聚合物材料</a:t>
            </a:r>
            <a:endParaRPr b="0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EEEE5A3-44B7-8A0C-CC1D-62B55E66D76D}"/>
              </a:ext>
            </a:extLst>
          </p:cNvPr>
          <p:cNvSpPr/>
          <p:nvPr/>
        </p:nvSpPr>
        <p:spPr>
          <a:xfrm>
            <a:off x="3754616" y="4297680"/>
            <a:ext cx="3246120" cy="960120"/>
          </a:xfrm>
          <a:prstGeom prst="rect">
            <a:avLst/>
          </a:prstGeom>
          <a:solidFill>
            <a:srgbClr val="F6F8FB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rial"/>
                <a:ea typeface="Microsoft YaHei"/>
              </a:rPr>
              <a:t>核心条件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rial"/>
                <a:ea typeface="Microsoft YaHei"/>
              </a:rPr>
              <a:t>Adhesion / Oxidation / Tg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41D318B-BCB6-545A-40DE-7FCDCEE242DD}"/>
              </a:ext>
            </a:extLst>
          </p:cNvPr>
          <p:cNvSpPr/>
          <p:nvPr/>
        </p:nvSpPr>
        <p:spPr>
          <a:xfrm>
            <a:off x="7412216" y="4297680"/>
            <a:ext cx="3474720" cy="960120"/>
          </a:xfrm>
          <a:prstGeom prst="rect">
            <a:avLst/>
          </a:prstGeom>
          <a:solidFill>
            <a:srgbClr val="F6F8FB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rial"/>
                <a:ea typeface="Microsoft YaHei"/>
              </a:rPr>
              <a:t>输出结构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rial"/>
                <a:ea typeface="Microsoft YaHei"/>
              </a:rPr>
              <a:t>Monomer A + Monomer B + x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0A59C3F-AE1B-E7C3-0F99-C9E961B4FE23}"/>
              </a:ext>
            </a:extLst>
          </p:cNvPr>
          <p:cNvSpPr/>
          <p:nvPr/>
        </p:nvSpPr>
        <p:spPr>
          <a:xfrm>
            <a:off x="3434576" y="4782312"/>
            <a:ext cx="274320" cy="0"/>
          </a:xfrm>
          <a:prstGeom prst="line">
            <a:avLst/>
          </a:prstGeom>
          <a:noFill/>
          <a:ln w="1651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D3E195C-87BD-161D-69CE-CB0889120731}"/>
              </a:ext>
            </a:extLst>
          </p:cNvPr>
          <p:cNvSpPr/>
          <p:nvPr/>
        </p:nvSpPr>
        <p:spPr>
          <a:xfrm>
            <a:off x="7092176" y="4782312"/>
            <a:ext cx="274320" cy="0"/>
          </a:xfrm>
          <a:prstGeom prst="line">
            <a:avLst/>
          </a:prstGeom>
          <a:noFill/>
          <a:ln w="1651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849FC19-1094-2270-A405-8895454F4F8C}"/>
              </a:ext>
            </a:extLst>
          </p:cNvPr>
          <p:cNvSpPr/>
          <p:nvPr/>
        </p:nvSpPr>
        <p:spPr>
          <a:xfrm>
            <a:off x="9784080" y="65105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Battery Polymer Generation | 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712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3654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Arial" pitchFamily="34" charset="0"/>
                <a:ea typeface="Microsoft YaHei" pitchFamily="34" charset="-122"/>
                <a:cs typeface="Microsoft YaHei" pitchFamily="34" charset="-120"/>
              </a:rPr>
              <a:t>1. 课题选择的核心问题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50975"/>
            <a:ext cx="3355848" cy="27432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/>
                <a:ea typeface="Microsoft YaHei"/>
              </a:rPr>
              <a:t>不是先选模型，而是先定义生成对象在哪一层。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2030077"/>
            <a:ext cx="3291840" cy="1504301"/>
          </a:xfrm>
          <a:prstGeom prst="rect">
            <a:avLst/>
          </a:prstGeom>
          <a:solidFill>
            <a:srgbClr val="F6F8FB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36547D"/>
                </a:solidFill>
                <a:highlight>
                  <a:srgbClr val="FFFF00"/>
                </a:highlight>
                <a:latin typeface="Arial"/>
                <a:ea typeface="Microsoft YaHei"/>
              </a:rPr>
              <a:t>过宽</a:t>
            </a:r>
            <a:r>
              <a:rPr lang="en-US" sz="1600" b="1" dirty="0">
                <a:solidFill>
                  <a:srgbClr val="36547D"/>
                </a:solidFill>
                <a:highlight>
                  <a:srgbClr val="FFFF00"/>
                </a:highlight>
                <a:latin typeface="Arial"/>
                <a:ea typeface="Microsoft YaHei"/>
              </a:rPr>
              <a:t>：</a:t>
            </a: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6547D"/>
                </a:solidFill>
                <a:latin typeface="Arial"/>
                <a:ea typeface="Microsoft YaHei"/>
              </a:rPr>
              <a:t>任意均聚物 + 随机共聚物 + 嵌段 + 任意序列 + MW + 支化 + 交联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65322" y="1675913"/>
            <a:ext cx="3429000" cy="1611344"/>
          </a:xfrm>
          <a:prstGeom prst="rect">
            <a:avLst/>
          </a:prstGeom>
          <a:solidFill>
            <a:srgbClr val="F6F8FB"/>
          </a:solidFill>
          <a:ln w="254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 err="1">
                <a:solidFill>
                  <a:srgbClr val="36547D"/>
                </a:solidFill>
                <a:highlight>
                  <a:srgbClr val="FFFF00"/>
                </a:highlight>
                <a:latin typeface="Arial"/>
                <a:ea typeface="Microsoft YaHei"/>
              </a:rPr>
              <a:t>适中</a:t>
            </a:r>
            <a:r>
              <a:rPr lang="en-US" sz="1900" b="1" dirty="0">
                <a:solidFill>
                  <a:srgbClr val="36547D"/>
                </a:solidFill>
                <a:latin typeface="Arial"/>
                <a:ea typeface="Microsoft YaHei"/>
              </a:rPr>
              <a:t>：</a:t>
            </a:r>
          </a:p>
          <a:p>
            <a:pPr marL="0" indent="0" algn="ctr">
              <a:buNone/>
            </a:pPr>
            <a:endParaRPr lang="en-US" sz="1900" dirty="0"/>
          </a:p>
          <a:p>
            <a:pPr marL="0" indent="0" algn="ctr">
              <a:buNone/>
            </a:pPr>
            <a:r>
              <a:rPr lang="en-US" sz="1900" b="1" dirty="0" err="1">
                <a:solidFill>
                  <a:srgbClr val="36547D"/>
                </a:solidFill>
                <a:latin typeface="Arial"/>
                <a:ea typeface="Microsoft YaHei"/>
              </a:rPr>
              <a:t>有限</a:t>
            </a:r>
            <a:r>
              <a:rPr lang="en-US" sz="1900" b="1" dirty="0">
                <a:solidFill>
                  <a:srgbClr val="36547D"/>
                </a:solidFill>
                <a:latin typeface="Arial"/>
                <a:ea typeface="Microsoft YaHei"/>
              </a:rPr>
              <a:t> building-block + 2–3 个关键性能条件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503920" y="2030077"/>
            <a:ext cx="3108960" cy="1504302"/>
          </a:xfrm>
          <a:prstGeom prst="rect">
            <a:avLst/>
          </a:prstGeom>
          <a:solidFill>
            <a:srgbClr val="F6F8FB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36547D"/>
                </a:solidFill>
                <a:highlight>
                  <a:srgbClr val="FFFF00"/>
                </a:highlight>
                <a:latin typeface="Arial"/>
                <a:ea typeface="Microsoft YaHei"/>
              </a:rPr>
              <a:t>过窄</a:t>
            </a:r>
            <a:r>
              <a:rPr lang="en-US" sz="1600" b="1" dirty="0">
                <a:solidFill>
                  <a:srgbClr val="36547D"/>
                </a:solidFill>
                <a:highlight>
                  <a:srgbClr val="FFFF00"/>
                </a:highlight>
                <a:latin typeface="Arial"/>
                <a:ea typeface="Microsoft YaHei"/>
              </a:rPr>
              <a:t>：</a:t>
            </a: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6547D"/>
                </a:solidFill>
                <a:latin typeface="Arial"/>
                <a:ea typeface="Microsoft YaHei"/>
              </a:rPr>
              <a:t>单一均聚物 repeat unit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6547D"/>
                </a:solidFill>
                <a:latin typeface="Arial"/>
                <a:ea typeface="Microsoft YaHei"/>
              </a:rPr>
              <a:t>缺少 composition / 结构调控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31920" y="2528539"/>
            <a:ext cx="457200" cy="0"/>
          </a:xfrm>
          <a:prstGeom prst="line">
            <a:avLst/>
          </a:prstGeom>
          <a:noFill/>
          <a:ln w="2540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982712" y="2528539"/>
            <a:ext cx="457200" cy="0"/>
          </a:xfrm>
          <a:prstGeom prst="line">
            <a:avLst/>
          </a:prstGeom>
          <a:noFill/>
          <a:ln w="2540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30352" y="4325779"/>
            <a:ext cx="2011680" cy="32004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547D"/>
                </a:solidFill>
                <a:latin typeface="Arial"/>
                <a:ea typeface="Microsoft YaHei"/>
              </a:rPr>
              <a:t>第一阶段建议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4917688"/>
            <a:ext cx="2926080" cy="12043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1F2937"/>
                </a:solidFill>
                <a:latin typeface="Arial"/>
                <a:ea typeface="Microsoft YaHei"/>
              </a:rPr>
              <a:t>把生成空间压缩为</a:t>
            </a:r>
            <a:r>
              <a:rPr lang="en-US" sz="2000" b="1" dirty="0">
                <a:solidFill>
                  <a:srgbClr val="1F2937"/>
                </a:solidFill>
                <a:latin typeface="Arial"/>
                <a:ea typeface="Microsoft YaHei"/>
              </a:rPr>
              <a:t>：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Arial"/>
                <a:ea typeface="Microsoft YaHei"/>
              </a:rPr>
              <a:t>P = (M_A, M_B, x_A)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86200" y="4917684"/>
            <a:ext cx="3703320" cy="12043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5B6573"/>
                </a:solidFill>
                <a:latin typeface="Arial"/>
                <a:ea typeface="Microsoft YaHei"/>
              </a:rPr>
              <a:t>暂不显式生成</a:t>
            </a:r>
            <a:r>
              <a:rPr lang="en-US" sz="1600" dirty="0">
                <a:solidFill>
                  <a:srgbClr val="5B6573"/>
                </a:solidFill>
                <a:latin typeface="Arial"/>
                <a:ea typeface="Microsoft YaHei"/>
              </a:rPr>
              <a:t>：</a:t>
            </a: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B6573"/>
                </a:solidFill>
                <a:latin typeface="Arial"/>
                <a:ea typeface="Microsoft YaHei"/>
              </a:rPr>
              <a:t>sequence / Mn / Đ / branching / crosslinking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09560" y="4917678"/>
            <a:ext cx="3611880" cy="12043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36547D"/>
                </a:solidFill>
                <a:latin typeface="Arial"/>
                <a:ea typeface="Microsoft YaHei"/>
              </a:rPr>
              <a:t>用条件驱动</a:t>
            </a:r>
            <a:r>
              <a:rPr lang="en-US" sz="1600" b="1" dirty="0">
                <a:solidFill>
                  <a:srgbClr val="36547D"/>
                </a:solidFill>
                <a:latin typeface="Arial"/>
                <a:ea typeface="Microsoft YaHei"/>
              </a:rPr>
              <a:t>：</a:t>
            </a: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6547D"/>
                </a:solidFill>
                <a:latin typeface="Arial"/>
                <a:ea typeface="Microsoft YaHei"/>
              </a:rPr>
              <a:t>adhesion + oxidation + Tg/mechanics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84080" y="65105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Battery Polymer Generation | 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3654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Arial" pitchFamily="34" charset="0"/>
                <a:ea typeface="Microsoft YaHei" pitchFamily="34" charset="-122"/>
                <a:cs typeface="Microsoft YaHei" pitchFamily="34" charset="-120"/>
              </a:rPr>
              <a:t>2. 四种候选生成目标对比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97247" y="1364742"/>
            <a:ext cx="25146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Microsoft YaHei"/>
              </a:rPr>
              <a:t>生成目标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57567" y="1364742"/>
            <a:ext cx="123444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Microsoft YaHei"/>
              </a:rPr>
              <a:t>数据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37727" y="1364742"/>
            <a:ext cx="1143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Microsoft YaHei"/>
              </a:rPr>
              <a:t>难度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26447" y="1364742"/>
            <a:ext cx="1143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Microsoft YaHei"/>
              </a:rPr>
              <a:t>创新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15167" y="1364742"/>
            <a:ext cx="1143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Microsoft YaHei"/>
              </a:rPr>
              <a:t>实验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03887" y="1364742"/>
            <a:ext cx="132588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Microsoft YaHei"/>
              </a:rPr>
              <a:t>应用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97247" y="1913382"/>
            <a:ext cx="2514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1016" rIns="65000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F2937"/>
                </a:solidFill>
                <a:latin typeface="Arial"/>
                <a:ea typeface="Microsoft YaHei"/>
              </a:rPr>
              <a:t>均聚物 repeat unit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3957567" y="1913382"/>
            <a:ext cx="1234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/>
                <a:ea typeface="Microsoft YaHei"/>
              </a:rPr>
              <a:t>★★★★★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5237727" y="1913382"/>
            <a:ext cx="1143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/>
                <a:ea typeface="Microsoft YaHei"/>
              </a:rPr>
              <a:t>★★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6426447" y="1913382"/>
            <a:ext cx="1143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/>
                <a:ea typeface="Microsoft YaHei"/>
              </a:rPr>
              <a:t>★★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7615167" y="1913382"/>
            <a:ext cx="1143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/>
                <a:ea typeface="Microsoft YaHei"/>
              </a:rPr>
              <a:t>★★★★★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8803887" y="1913382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/>
                <a:ea typeface="Microsoft YaHei"/>
              </a:rPr>
              <a:t>★★★★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1397247" y="2663190"/>
            <a:ext cx="2514600" cy="566928"/>
          </a:xfrm>
          <a:prstGeom prst="rect">
            <a:avLst/>
          </a:prstGeom>
          <a:solidFill>
            <a:srgbClr val="EDF2F8"/>
          </a:solidFill>
          <a:ln w="12700">
            <a:solidFill>
              <a:srgbClr val="CBD5E1"/>
            </a:solidFill>
          </a:ln>
        </p:spPr>
        <p:txBody>
          <a:bodyPr wrap="square" lIns="65000" tIns="1016" rIns="65000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F2937"/>
                </a:solidFill>
                <a:latin typeface="Arial"/>
                <a:ea typeface="Microsoft YaHei"/>
              </a:rPr>
              <a:t>二元 random/statistical + composition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3957567" y="2663190"/>
            <a:ext cx="1234440" cy="566928"/>
          </a:xfrm>
          <a:prstGeom prst="rect">
            <a:avLst/>
          </a:prstGeom>
          <a:solidFill>
            <a:srgbClr val="EDF2F8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F2937"/>
                </a:solidFill>
                <a:latin typeface="Arial"/>
                <a:ea typeface="Microsoft YaHei"/>
              </a:rPr>
              <a:t>★★★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5237727" y="2663190"/>
            <a:ext cx="1143000" cy="566928"/>
          </a:xfrm>
          <a:prstGeom prst="rect">
            <a:avLst/>
          </a:prstGeom>
          <a:solidFill>
            <a:srgbClr val="EDF2F8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F2937"/>
                </a:solidFill>
                <a:latin typeface="Arial"/>
                <a:ea typeface="Microsoft YaHei"/>
              </a:rPr>
              <a:t>★★★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6426447" y="2663190"/>
            <a:ext cx="1143000" cy="566928"/>
          </a:xfrm>
          <a:prstGeom prst="rect">
            <a:avLst/>
          </a:prstGeom>
          <a:solidFill>
            <a:srgbClr val="EDF2F8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F2937"/>
                </a:solidFill>
                <a:latin typeface="Arial"/>
                <a:ea typeface="Microsoft YaHei"/>
              </a:rPr>
              <a:t>★★★★★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7615167" y="2663190"/>
            <a:ext cx="1143000" cy="566928"/>
          </a:xfrm>
          <a:prstGeom prst="rect">
            <a:avLst/>
          </a:prstGeom>
          <a:solidFill>
            <a:srgbClr val="EDF2F8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F2937"/>
                </a:solidFill>
                <a:latin typeface="Arial"/>
                <a:ea typeface="Microsoft YaHei"/>
              </a:rPr>
              <a:t>★★★★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8803887" y="2663190"/>
            <a:ext cx="1325880" cy="566928"/>
          </a:xfrm>
          <a:prstGeom prst="rect">
            <a:avLst/>
          </a:prstGeom>
          <a:solidFill>
            <a:srgbClr val="EDF2F8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F2937"/>
                </a:solidFill>
                <a:latin typeface="Arial"/>
                <a:ea typeface="Microsoft YaHei"/>
              </a:rPr>
              <a:t>★★★★★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1397247" y="3412998"/>
            <a:ext cx="2514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1016" rIns="65000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F2937"/>
                </a:solidFill>
                <a:latin typeface="Arial"/>
                <a:ea typeface="Microsoft YaHei"/>
              </a:rPr>
              <a:t>Block copolymer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3957567" y="3412998"/>
            <a:ext cx="1234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/>
                <a:ea typeface="Microsoft YaHei"/>
              </a:rPr>
              <a:t>★★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5237727" y="3412998"/>
            <a:ext cx="1143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/>
                <a:ea typeface="Microsoft YaHei"/>
              </a:rPr>
              <a:t>★★★★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6426447" y="3412998"/>
            <a:ext cx="1143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/>
                <a:ea typeface="Microsoft YaHei"/>
              </a:rPr>
              <a:t>★★★★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7615167" y="3412998"/>
            <a:ext cx="1143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/>
                <a:ea typeface="Microsoft YaHei"/>
              </a:rPr>
              <a:t>★★★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8803887" y="3412998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/>
                <a:ea typeface="Microsoft YaHei"/>
              </a:rPr>
              <a:t>★★★★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1397247" y="4162806"/>
            <a:ext cx="2514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1016" rIns="65000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F2937"/>
                </a:solidFill>
                <a:latin typeface="Arial"/>
                <a:ea typeface="Microsoft YaHei"/>
              </a:rPr>
              <a:t>Sequence-aware copolymer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3957567" y="4162806"/>
            <a:ext cx="1234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/>
                <a:ea typeface="Microsoft YaHei"/>
              </a:rPr>
              <a:t>★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5237727" y="4162806"/>
            <a:ext cx="1143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/>
                <a:ea typeface="Microsoft YaHei"/>
              </a:rPr>
              <a:t>★★★★★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6426447" y="4162806"/>
            <a:ext cx="1143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/>
                <a:ea typeface="Microsoft YaHei"/>
              </a:rPr>
              <a:t>★★★★★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7615167" y="4162806"/>
            <a:ext cx="1143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/>
                <a:ea typeface="Microsoft YaHei"/>
              </a:rPr>
              <a:t>★★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8803887" y="4162806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/>
                <a:ea typeface="Microsoft YaHei"/>
              </a:rPr>
              <a:t>★★★★★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914400" y="5564124"/>
            <a:ext cx="9875520" cy="59436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Arial"/>
                <a:ea typeface="Microsoft YaHei"/>
              </a:rPr>
              <a:t>结论：第一阶段最合适的平衡点是“二元统计共聚物 + composition”。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9784080" y="65105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Battery Polymer Generation | 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3654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Arial" pitchFamily="34" charset="0"/>
                <a:ea typeface="Microsoft YaHei" pitchFamily="34" charset="-122"/>
                <a:cs typeface="Microsoft YaHei" pitchFamily="34" charset="-120"/>
              </a:rPr>
              <a:t>3. 均聚物 repeat-unit generation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3472936" cy="27432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/>
                <a:ea typeface="Microsoft YaHei"/>
              </a:rPr>
              <a:t>适合做 baseline，但不建议作为最终唯一目标。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" y="2112264"/>
            <a:ext cx="2468880" cy="731520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6547D"/>
                </a:solidFill>
                <a:latin typeface="Arial"/>
                <a:ea typeface="Microsoft YaHei"/>
              </a:rPr>
              <a:t>Target properties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10712" y="2478024"/>
            <a:ext cx="1143000" cy="0"/>
          </a:xfrm>
          <a:prstGeom prst="line">
            <a:avLst/>
          </a:prstGeom>
          <a:noFill/>
          <a:ln w="2540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690872" y="1883664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6547D"/>
                </a:solidFill>
                <a:latin typeface="Arial"/>
                <a:ea typeface="Microsoft YaHei"/>
              </a:rPr>
              <a:t>Repeat unit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36547D"/>
                </a:solidFill>
                <a:latin typeface="Arial"/>
                <a:ea typeface="Microsoft YaHei"/>
              </a:rPr>
              <a:t>[*]–R–[*]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251192" y="2478024"/>
            <a:ext cx="1143000" cy="0"/>
          </a:xfrm>
          <a:prstGeom prst="line">
            <a:avLst/>
          </a:prstGeom>
          <a:noFill/>
          <a:ln w="2540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531352" y="2112264"/>
            <a:ext cx="2468880" cy="731520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6547D"/>
                </a:solidFill>
                <a:latin typeface="Arial"/>
                <a:ea typeface="Microsoft YaHei"/>
              </a:rPr>
              <a:t>Homopolymer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36547D"/>
                </a:solidFill>
                <a:latin typeface="Arial"/>
                <a:ea typeface="Microsoft YaHei"/>
              </a:rPr>
              <a:t>[-R-]ₙ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07941" y="4206239"/>
            <a:ext cx="2848021" cy="189347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1F2937"/>
                </a:solidFill>
                <a:highlight>
                  <a:srgbClr val="FFFF00"/>
                </a:highlight>
                <a:latin typeface="Arial"/>
                <a:ea typeface="Microsoft YaHei"/>
              </a:rPr>
              <a:t>优点</a:t>
            </a:r>
            <a:endParaRPr lang="en-US" sz="2000" dirty="0">
              <a:solidFill>
                <a:srgbClr val="0F172A"/>
              </a:solidFill>
              <a:highlight>
                <a:srgbClr val="FFFF00"/>
              </a:highlight>
            </a:endParaRPr>
          </a:p>
          <a:p>
            <a:pPr marL="0" indent="0" algn="ctr">
              <a:buNone/>
            </a:pPr>
            <a:endParaRPr lang="en-US" sz="2000" dirty="0">
              <a:highlight>
                <a:srgbClr val="FFFF00"/>
              </a:highlight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1F2937"/>
                </a:solidFill>
                <a:latin typeface="Arial"/>
                <a:ea typeface="Microsoft YaHei"/>
              </a:rPr>
              <a:t>• 数据整理容易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F2937"/>
                </a:solidFill>
                <a:latin typeface="Arial"/>
                <a:ea typeface="Microsoft YaHei"/>
              </a:rPr>
              <a:t>• 表示简单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F2937"/>
                </a:solidFill>
                <a:latin typeface="Arial"/>
                <a:ea typeface="Microsoft YaHei"/>
              </a:rPr>
              <a:t>• 结构合法性好检查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F2937"/>
                </a:solidFill>
                <a:latin typeface="Arial"/>
                <a:ea typeface="Microsoft YaHei"/>
              </a:rPr>
              <a:t>• DFT/MD 更直接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14180" y="4206239"/>
            <a:ext cx="4134874" cy="18934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1F2937"/>
                </a:solidFill>
                <a:highlight>
                  <a:srgbClr val="FFFF00"/>
                </a:highlight>
                <a:latin typeface="Arial"/>
                <a:ea typeface="Microsoft YaHei"/>
              </a:rPr>
              <a:t>局限</a:t>
            </a:r>
            <a:endParaRPr lang="en-US" sz="2000" dirty="0">
              <a:solidFill>
                <a:srgbClr val="0F172A"/>
              </a:solidFill>
              <a:highlight>
                <a:srgbClr val="FFFF00"/>
              </a:highlight>
            </a:endParaRPr>
          </a:p>
          <a:p>
            <a:pPr marL="0" indent="0" algn="ctr">
              <a:buNone/>
            </a:pPr>
            <a:endParaRPr lang="en-US" sz="2000" dirty="0">
              <a:highlight>
                <a:srgbClr val="FFFF00"/>
              </a:highlight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1F2937"/>
                </a:solidFill>
                <a:latin typeface="Arial"/>
                <a:ea typeface="Microsoft YaHei"/>
              </a:rPr>
              <a:t>• 难体现 composition 调控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F2937"/>
                </a:solidFill>
                <a:latin typeface="Arial"/>
                <a:ea typeface="Microsoft YaHei"/>
              </a:rPr>
              <a:t>• 难表达功能单体比例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F2937"/>
                </a:solidFill>
                <a:latin typeface="Arial"/>
                <a:ea typeface="Microsoft YaHei"/>
              </a:rPr>
              <a:t>• </a:t>
            </a:r>
            <a:r>
              <a:rPr lang="en-US" sz="2000" dirty="0" err="1">
                <a:solidFill>
                  <a:srgbClr val="1F2937"/>
                </a:solidFill>
                <a:latin typeface="Arial"/>
                <a:ea typeface="Microsoft YaHei"/>
              </a:rPr>
              <a:t>真实聚合物通常依赖共聚平衡性能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784080" y="65105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Battery Polymer Generation | 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3654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Arial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r>
              <a:rPr lang="en-US" sz="2500" b="1" dirty="0" err="1">
                <a:solidFill>
                  <a:srgbClr val="1F3864"/>
                </a:solidFill>
                <a:latin typeface="Arial" pitchFamily="34" charset="0"/>
                <a:ea typeface="Microsoft YaHei" pitchFamily="34" charset="-122"/>
                <a:cs typeface="Microsoft YaHei" pitchFamily="34" charset="-120"/>
              </a:rPr>
              <a:t>二元</a:t>
            </a:r>
            <a:r>
              <a:rPr lang="en-US" sz="2500" b="1" dirty="0">
                <a:solidFill>
                  <a:srgbClr val="1F3864"/>
                </a:solidFill>
                <a:latin typeface="Arial" pitchFamily="34" charset="0"/>
                <a:ea typeface="Microsoft YaHei" pitchFamily="34" charset="-122"/>
                <a:cs typeface="Microsoft YaHei" pitchFamily="34" charset="-120"/>
              </a:rPr>
              <a:t> random</a:t>
            </a:r>
            <a:r>
              <a:rPr lang="zh-CN" altLang="en-US" sz="2500" b="1" dirty="0">
                <a:solidFill>
                  <a:srgbClr val="1F3864"/>
                </a:solidFill>
                <a:latin typeface="Arial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2500" b="1" dirty="0">
                <a:solidFill>
                  <a:srgbClr val="1F3864"/>
                </a:solidFill>
                <a:latin typeface="Arial" pitchFamily="34" charset="0"/>
                <a:ea typeface="Microsoft YaHei" pitchFamily="34" charset="-122"/>
                <a:cs typeface="Microsoft YaHei" pitchFamily="34" charset="-120"/>
              </a:rPr>
              <a:t>copolymer + </a:t>
            </a:r>
            <a:r>
              <a:rPr lang="en-US" sz="2500" b="1" dirty="0" err="1">
                <a:solidFill>
                  <a:srgbClr val="1F3864"/>
                </a:solidFill>
                <a:latin typeface="Arial" pitchFamily="34" charset="0"/>
                <a:ea typeface="Microsoft YaHei" pitchFamily="34" charset="-122"/>
                <a:cs typeface="Microsoft YaHei" pitchFamily="34" charset="-120"/>
              </a:rPr>
              <a:t>composition（首先最适合做</a:t>
            </a:r>
            <a:r>
              <a:rPr lang="en-US" sz="2500" b="1" dirty="0">
                <a:solidFill>
                  <a:srgbClr val="1F3864"/>
                </a:solidFill>
                <a:latin typeface="Arial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3941287" cy="27432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/>
                <a:ea typeface="Microsoft YaHei"/>
              </a:rPr>
              <a:t>生成对象：P = (M_A, M_B, x_A)，其中 x_B = 1 − x_A。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8200" y="1962615"/>
            <a:ext cx="2194560" cy="960120"/>
          </a:xfrm>
          <a:prstGeom prst="rect">
            <a:avLst/>
          </a:prstGeom>
          <a:solidFill>
            <a:srgbClr val="F6F8FB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6547D"/>
                </a:solidFill>
                <a:latin typeface="Arial"/>
                <a:ea typeface="Microsoft YaHei"/>
              </a:rPr>
              <a:t>M_A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36547D"/>
                </a:solidFill>
                <a:latin typeface="Arial"/>
                <a:ea typeface="Microsoft YaHei"/>
              </a:rPr>
              <a:t>结构/加工单体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998720" y="1962615"/>
            <a:ext cx="2194560" cy="960120"/>
          </a:xfrm>
          <a:prstGeom prst="rect">
            <a:avLst/>
          </a:prstGeom>
          <a:solidFill>
            <a:srgbClr val="F6F8FB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6547D"/>
                </a:solidFill>
                <a:latin typeface="Arial"/>
                <a:ea typeface="Microsoft YaHei"/>
              </a:rPr>
              <a:t>M_B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36547D"/>
                </a:solidFill>
                <a:latin typeface="Arial"/>
                <a:ea typeface="Microsoft YaHei"/>
              </a:rPr>
              <a:t>功能/界面单体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59240" y="1962615"/>
            <a:ext cx="2194560" cy="960120"/>
          </a:xfrm>
          <a:prstGeom prst="rect">
            <a:avLst/>
          </a:prstGeom>
          <a:solidFill>
            <a:srgbClr val="F6F8FB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6547D"/>
                </a:solidFill>
                <a:latin typeface="Arial"/>
                <a:ea typeface="Microsoft YaHei"/>
              </a:rPr>
              <a:t>x_A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36547D"/>
                </a:solidFill>
                <a:latin typeface="Arial"/>
                <a:ea typeface="Microsoft YaHei"/>
              </a:rPr>
              <a:t>composition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078480" y="2419815"/>
            <a:ext cx="1828800" cy="0"/>
          </a:xfrm>
          <a:prstGeom prst="line">
            <a:avLst/>
          </a:prstGeom>
          <a:noFill/>
          <a:ln w="2540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239000" y="2419815"/>
            <a:ext cx="1828800" cy="0"/>
          </a:xfrm>
          <a:prstGeom prst="line">
            <a:avLst/>
          </a:prstGeom>
          <a:noFill/>
          <a:ln w="2540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398520" y="3517095"/>
            <a:ext cx="5394960" cy="777240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6547D"/>
                </a:solidFill>
                <a:latin typeface="Arial"/>
                <a:ea typeface="Microsoft YaHei"/>
              </a:rPr>
              <a:t>P = (M_A, M_B, x_A)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026920" y="4842975"/>
            <a:ext cx="8138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rial"/>
                <a:ea typeface="Microsoft YaHei"/>
              </a:rPr>
              <a:t>例： (M_A, M_B, 0.70)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rial"/>
                <a:ea typeface="Microsoft YaHei"/>
              </a:rPr>
              <a:t>表示 A:B ≈ 70:30 的二元统计共聚物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84080" y="65105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Battery Polymer Generation | 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3654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Arial" pitchFamily="34" charset="0"/>
                <a:ea typeface="Microsoft YaHei" pitchFamily="34" charset="-122"/>
                <a:cs typeface="Microsoft YaHei" pitchFamily="34" charset="-120"/>
              </a:rPr>
              <a:t>5. Composition ≠ Sequence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3484087" cy="27432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/>
                <a:ea typeface="Microsoft YaHei"/>
              </a:rPr>
              <a:t>相同 A:B = 50:50，也可能对应完全不同链排列。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20" y="1545336"/>
            <a:ext cx="3154680" cy="411480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6547D"/>
                </a:solidFill>
                <a:latin typeface="Arial"/>
                <a:ea typeface="Microsoft YaHei"/>
              </a:rPr>
              <a:t>Random / statistical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56816"/>
            <a:ext cx="457200" cy="45720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81912" y="1956816"/>
            <a:ext cx="457200" cy="457200"/>
          </a:xfrm>
          <a:prstGeom prst="rect">
            <a:avLst/>
          </a:prstGeom>
          <a:solidFill>
            <a:srgbClr val="ECEFF3"/>
          </a:solidFill>
          <a:ln w="12700">
            <a:solidFill>
              <a:srgbClr val="94A3B8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95144" y="1956816"/>
            <a:ext cx="457200" cy="45720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08376" y="1956816"/>
            <a:ext cx="457200" cy="45720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734056"/>
            <a:ext cx="457200" cy="457200"/>
          </a:xfrm>
          <a:prstGeom prst="rect">
            <a:avLst/>
          </a:prstGeom>
          <a:solidFill>
            <a:srgbClr val="ECEFF3"/>
          </a:solidFill>
          <a:ln w="12700">
            <a:solidFill>
              <a:srgbClr val="94A3B8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81912" y="2734056"/>
            <a:ext cx="457200" cy="457200"/>
          </a:xfrm>
          <a:prstGeom prst="rect">
            <a:avLst/>
          </a:prstGeom>
          <a:solidFill>
            <a:srgbClr val="ECEFF3"/>
          </a:solidFill>
          <a:ln w="12700">
            <a:solidFill>
              <a:srgbClr val="94A3B8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95144" y="2734056"/>
            <a:ext cx="457200" cy="45720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08376" y="2734056"/>
            <a:ext cx="457200" cy="457200"/>
          </a:xfrm>
          <a:prstGeom prst="rect">
            <a:avLst/>
          </a:prstGeom>
          <a:solidFill>
            <a:srgbClr val="ECEFF3"/>
          </a:solidFill>
          <a:ln w="12700">
            <a:solidFill>
              <a:srgbClr val="94A3B8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105656"/>
            <a:ext cx="3154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573"/>
                </a:solidFill>
                <a:latin typeface="Arial"/>
                <a:ea typeface="Microsoft YaHei"/>
              </a:rPr>
              <a:t>composition = 50:50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1545336"/>
            <a:ext cx="3154680" cy="411480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6547D"/>
                </a:solidFill>
                <a:latin typeface="Arial"/>
                <a:ea typeface="Microsoft YaHei"/>
              </a:rPr>
              <a:t>Alternating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1956816"/>
            <a:ext cx="457200" cy="45720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68112" y="1956816"/>
            <a:ext cx="457200" cy="457200"/>
          </a:xfrm>
          <a:prstGeom prst="rect">
            <a:avLst/>
          </a:prstGeom>
          <a:solidFill>
            <a:srgbClr val="ECEFF3"/>
          </a:solidFill>
          <a:ln w="12700">
            <a:solidFill>
              <a:srgbClr val="94A3B8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81344" y="1956816"/>
            <a:ext cx="457200" cy="45720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94576" y="1956816"/>
            <a:ext cx="457200" cy="457200"/>
          </a:xfrm>
          <a:prstGeom prst="rect">
            <a:avLst/>
          </a:prstGeom>
          <a:solidFill>
            <a:srgbClr val="ECEFF3"/>
          </a:solidFill>
          <a:ln w="12700">
            <a:solidFill>
              <a:srgbClr val="94A3B8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457200" cy="45720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68112" y="2734056"/>
            <a:ext cx="457200" cy="457200"/>
          </a:xfrm>
          <a:prstGeom prst="rect">
            <a:avLst/>
          </a:prstGeom>
          <a:solidFill>
            <a:srgbClr val="ECEFF3"/>
          </a:solidFill>
          <a:ln w="12700">
            <a:solidFill>
              <a:srgbClr val="94A3B8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81344" y="2734056"/>
            <a:ext cx="457200" cy="45720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94576" y="2734056"/>
            <a:ext cx="457200" cy="457200"/>
          </a:xfrm>
          <a:prstGeom prst="rect">
            <a:avLst/>
          </a:prstGeom>
          <a:solidFill>
            <a:srgbClr val="ECEFF3"/>
          </a:solidFill>
          <a:ln w="12700">
            <a:solidFill>
              <a:srgbClr val="94A3B8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17720" y="4105656"/>
            <a:ext cx="3154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573"/>
                </a:solidFill>
                <a:latin typeface="Arial"/>
                <a:ea typeface="Microsoft YaHei"/>
              </a:rPr>
              <a:t>composition = 50:50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1545336"/>
            <a:ext cx="3154680" cy="411480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6547D"/>
                </a:solidFill>
                <a:latin typeface="Arial"/>
                <a:ea typeface="Microsoft YaHei"/>
              </a:rPr>
              <a:t>Block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41080" y="1956816"/>
            <a:ext cx="457200" cy="45720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54312" y="1956816"/>
            <a:ext cx="457200" cy="45720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67544" y="1956816"/>
            <a:ext cx="457200" cy="45720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780776" y="1956816"/>
            <a:ext cx="457200" cy="45720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641080" y="2734056"/>
            <a:ext cx="457200" cy="457200"/>
          </a:xfrm>
          <a:prstGeom prst="rect">
            <a:avLst/>
          </a:prstGeom>
          <a:solidFill>
            <a:srgbClr val="ECEFF3"/>
          </a:solidFill>
          <a:ln w="12700">
            <a:solidFill>
              <a:srgbClr val="94A3B8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B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54312" y="2734056"/>
            <a:ext cx="457200" cy="457200"/>
          </a:xfrm>
          <a:prstGeom prst="rect">
            <a:avLst/>
          </a:prstGeom>
          <a:solidFill>
            <a:srgbClr val="ECEFF3"/>
          </a:solidFill>
          <a:ln w="12700">
            <a:solidFill>
              <a:srgbClr val="94A3B8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B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067544" y="2734056"/>
            <a:ext cx="457200" cy="457200"/>
          </a:xfrm>
          <a:prstGeom prst="rect">
            <a:avLst/>
          </a:prstGeom>
          <a:solidFill>
            <a:srgbClr val="ECEFF3"/>
          </a:solidFill>
          <a:ln w="12700">
            <a:solidFill>
              <a:srgbClr val="94A3B8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B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780776" y="2734056"/>
            <a:ext cx="457200" cy="457200"/>
          </a:xfrm>
          <a:prstGeom prst="rect">
            <a:avLst/>
          </a:prstGeom>
          <a:solidFill>
            <a:srgbClr val="ECEFF3"/>
          </a:solidFill>
          <a:ln w="12700">
            <a:solidFill>
              <a:srgbClr val="94A3B8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/>
                <a:ea typeface="Microsoft YaHei"/>
              </a:rPr>
              <a:t>B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03920" y="4105656"/>
            <a:ext cx="3154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573"/>
                </a:solidFill>
                <a:latin typeface="Arial"/>
                <a:ea typeface="Microsoft YaHei"/>
              </a:rPr>
              <a:t>composition = 50:50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51560" y="5449824"/>
            <a:ext cx="10195560" cy="566928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547D"/>
                </a:solidFill>
                <a:latin typeface="Arial"/>
                <a:ea typeface="Microsoft YaHei"/>
              </a:rPr>
              <a:t>第一阶段建议：固定 architecture 为 statistical/random，不显式生成精确 sequence。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784080" y="65105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Battery Polymer Generation | 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3654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Arial" pitchFamily="34" charset="0"/>
                <a:ea typeface="Microsoft YaHei" pitchFamily="34" charset="-122"/>
                <a:cs typeface="Microsoft YaHei" pitchFamily="34" charset="-120"/>
              </a:rPr>
              <a:t>6. 为什么 composition 是关键变量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4365033" cy="27432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/>
                <a:ea typeface="Microsoft YaHei"/>
              </a:rPr>
              <a:t>模型学习的不只是化学结构，而是“单体组合 + 配比 → 性能”。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66449" y="1929384"/>
            <a:ext cx="2926080" cy="96012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rial"/>
                <a:ea typeface="Microsoft YaHei"/>
              </a:rPr>
              <a:t>Monomer 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rial"/>
                <a:ea typeface="Microsoft YaHei"/>
              </a:rPr>
              <a:t>柔性 / 溶解 / 加工 / Tg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47409" y="1929384"/>
            <a:ext cx="2971800" cy="96012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rial"/>
                <a:ea typeface="Microsoft YaHei"/>
              </a:rPr>
              <a:t>Monomer B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rial"/>
                <a:ea typeface="Microsoft YaHei"/>
              </a:rPr>
              <a:t>腈基 / 酯基 / 酰胺 / 界面粘结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18009" y="4032504"/>
            <a:ext cx="8503920" cy="0"/>
          </a:xfrm>
          <a:prstGeom prst="line">
            <a:avLst/>
          </a:prstGeom>
          <a:noFill/>
          <a:ln w="101600">
            <a:solidFill>
              <a:srgbClr val="36547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808281" y="3849624"/>
            <a:ext cx="219456" cy="21945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3654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97969" y="4279392"/>
            <a:ext cx="640080" cy="22860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3"/>
                </a:solidFill>
                <a:latin typeface="Arial"/>
                <a:ea typeface="Microsoft YaHei"/>
              </a:rPr>
              <a:t>90:10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4261" y="3849624"/>
            <a:ext cx="219456" cy="21945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3654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723949" y="4279392"/>
            <a:ext cx="640080" cy="22860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3"/>
                </a:solidFill>
                <a:latin typeface="Arial"/>
                <a:ea typeface="Microsoft YaHei"/>
              </a:rPr>
              <a:t>70:30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60241" y="3849624"/>
            <a:ext cx="219456" cy="21945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3654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849929" y="4279392"/>
            <a:ext cx="640080" cy="22860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3"/>
                </a:solidFill>
                <a:latin typeface="Arial"/>
                <a:ea typeface="Microsoft YaHei"/>
              </a:rPr>
              <a:t>50:50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6221" y="3849624"/>
            <a:ext cx="219456" cy="21945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3654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975909" y="4279392"/>
            <a:ext cx="640080" cy="22860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3"/>
                </a:solidFill>
                <a:latin typeface="Arial"/>
                <a:ea typeface="Microsoft YaHei"/>
              </a:rPr>
              <a:t>30:70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312201" y="3849624"/>
            <a:ext cx="219456" cy="21945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3654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101889" y="4279392"/>
            <a:ext cx="640080" cy="22860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3"/>
                </a:solidFill>
                <a:latin typeface="Arial"/>
                <a:ea typeface="Microsoft YaHei"/>
              </a:rPr>
              <a:t>10:90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0769" y="3072384"/>
            <a:ext cx="3657600" cy="32004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254" rIns="65000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6547D"/>
                </a:solidFill>
                <a:latin typeface="Arial"/>
                <a:ea typeface="Microsoft YaHei"/>
              </a:rPr>
              <a:t>偏 A：加工/溶解更好，粘结可能不足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33009" y="3072384"/>
            <a:ext cx="3840480" cy="32004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254" rIns="65000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6547D"/>
                </a:solidFill>
                <a:latin typeface="Arial"/>
                <a:ea typeface="Microsoft YaHei"/>
              </a:rPr>
              <a:t>偏 B：界面作用更强，但可能牺牲溶解/稳定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06729" y="5129784"/>
            <a:ext cx="6217920" cy="731520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6547D"/>
                </a:solidFill>
                <a:latin typeface="Arial"/>
                <a:ea typeface="Microsoft YaHei"/>
              </a:rPr>
              <a:t>Composition x 是模型可优化的 trade-off 变量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784080" y="65105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Battery Polymer Generation | 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>
            <a:extLst>
              <a:ext uri="{FF2B5EF4-FFF2-40B4-BE49-F238E27FC236}">
                <a16:creationId xmlns:a16="http://schemas.microsoft.com/office/drawing/2014/main" id="{A23AF958-4DAB-56B5-0E8C-29621CA84EB0}"/>
              </a:ext>
            </a:extLst>
          </p:cNvPr>
          <p:cNvSpPr/>
          <p:nvPr/>
        </p:nvSpPr>
        <p:spPr>
          <a:xfrm>
            <a:off x="6212718" y="1427356"/>
            <a:ext cx="5583042" cy="4086462"/>
          </a:xfrm>
          <a:prstGeom prst="roundRect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3654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Arial" pitchFamily="34" charset="0"/>
                <a:ea typeface="Microsoft YaHei" pitchFamily="34" charset="-122"/>
                <a:cs typeface="Microsoft YaHei" pitchFamily="34" charset="-120"/>
              </a:rPr>
              <a:t>7. Block 与 Sequence-aware：第二阶段再做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789920" cy="27432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/>
                <a:ea typeface="Microsoft YaHei"/>
              </a:rPr>
              <a:t>它们研究价值高，但第一阶段数据、合成与验证成本更高。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21484" y="2121408"/>
            <a:ext cx="3108960" cy="685800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6547D"/>
                </a:solidFill>
                <a:latin typeface="Arial"/>
                <a:ea typeface="Microsoft YaHei"/>
              </a:rPr>
              <a:t>Block copolymer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36547D"/>
                </a:solidFill>
                <a:latin typeface="Arial"/>
                <a:ea typeface="Microsoft YaHei"/>
              </a:rPr>
              <a:t>Aₘ-b-Bₙ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65284" y="1892808"/>
            <a:ext cx="3108960" cy="685800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6547D"/>
                </a:solidFill>
                <a:latin typeface="Arial"/>
                <a:ea typeface="Microsoft YaHei"/>
              </a:rPr>
              <a:t>Sequence-aware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36547D"/>
                </a:solidFill>
                <a:latin typeface="Arial"/>
                <a:ea typeface="Microsoft YaHei"/>
              </a:rPr>
              <a:t>AABABBBA...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8644" y="5138928"/>
            <a:ext cx="2194560" cy="594360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547D"/>
                </a:solidFill>
                <a:latin typeface="Arial"/>
                <a:ea typeface="Microsoft YaHei"/>
              </a:rPr>
              <a:t>Statistical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6547D"/>
                </a:solidFill>
                <a:latin typeface="Arial"/>
                <a:ea typeface="Microsoft YaHei"/>
              </a:rPr>
              <a:t>(M_A,M_B,x)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44644" y="5431536"/>
            <a:ext cx="548640" cy="0"/>
          </a:xfrm>
          <a:prstGeom prst="line">
            <a:avLst/>
          </a:prstGeom>
          <a:noFill/>
          <a:ln w="2032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784724" y="4498848"/>
            <a:ext cx="2194560" cy="594360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547D"/>
                </a:solidFill>
                <a:latin typeface="Arial"/>
                <a:ea typeface="Microsoft YaHei"/>
              </a:rPr>
              <a:t>Block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6547D"/>
                </a:solidFill>
                <a:latin typeface="Arial"/>
                <a:ea typeface="Microsoft YaHei"/>
              </a:rPr>
              <a:t>+ block length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70724" y="4791456"/>
            <a:ext cx="548640" cy="0"/>
          </a:xfrm>
          <a:prstGeom prst="line">
            <a:avLst/>
          </a:prstGeom>
          <a:noFill/>
          <a:ln w="2032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710804" y="3813048"/>
            <a:ext cx="2468880" cy="594360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547D"/>
                </a:solidFill>
                <a:latin typeface="Arial"/>
                <a:ea typeface="Microsoft YaHei"/>
              </a:rPr>
              <a:t>Sequence-aware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6547D"/>
                </a:solidFill>
                <a:latin typeface="Arial"/>
                <a:ea typeface="Microsoft YaHei"/>
              </a:rPr>
              <a:t>+ exact sequence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271124" y="4105656"/>
            <a:ext cx="457200" cy="91440"/>
          </a:xfrm>
          <a:prstGeom prst="line">
            <a:avLst/>
          </a:prstGeom>
          <a:noFill/>
          <a:ln w="2032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819764" y="3904488"/>
            <a:ext cx="1737360" cy="594360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547D"/>
                </a:solidFill>
                <a:latin typeface="Arial"/>
                <a:ea typeface="Microsoft YaHei"/>
              </a:rPr>
              <a:t>Full polymer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6547D"/>
                </a:solidFill>
                <a:latin typeface="Arial"/>
                <a:ea typeface="Microsoft YaHei"/>
              </a:rPr>
              <a:t>+ MW/Đ/topology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924" y="2990088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rial"/>
                <a:ea typeface="Microsoft YaHei"/>
              </a:rPr>
              <a:t>Block：需要考虑 block </a:t>
            </a:r>
            <a:r>
              <a:rPr lang="en-US" sz="1500" dirty="0" err="1">
                <a:solidFill>
                  <a:srgbClr val="1F2937"/>
                </a:solidFill>
                <a:latin typeface="Arial"/>
                <a:ea typeface="Microsoft YaHei"/>
              </a:rPr>
              <a:t>length、MW、相分离、morphology</a:t>
            </a:r>
            <a:r>
              <a:rPr lang="zh-CN" altLang="en-US" sz="1500" dirty="0">
                <a:solidFill>
                  <a:srgbClr val="1F2937"/>
                </a:solidFill>
                <a:latin typeface="Arial"/>
                <a:ea typeface="Microsoft YaHei"/>
              </a:rPr>
              <a:t> （</a:t>
            </a:r>
            <a:r>
              <a:rPr lang="zh-CN" altLang="en-US" sz="1500" dirty="0">
                <a:solidFill>
                  <a:srgbClr val="1F2937"/>
                </a:solidFill>
                <a:highlight>
                  <a:srgbClr val="FFFF00"/>
                </a:highlight>
                <a:latin typeface="Arial"/>
                <a:ea typeface="Microsoft YaHei"/>
              </a:rPr>
              <a:t>难合成，成本高，难以验证</a:t>
            </a:r>
            <a:r>
              <a:rPr lang="zh-CN" altLang="en-US" sz="1500" dirty="0">
                <a:solidFill>
                  <a:srgbClr val="1F2937"/>
                </a:solidFill>
                <a:latin typeface="Arial"/>
                <a:ea typeface="Microsoft YaHei"/>
              </a:rPr>
              <a:t>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90764" y="2807208"/>
            <a:ext cx="4937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rial"/>
                <a:ea typeface="Microsoft YaHei"/>
              </a:rPr>
              <a:t>Sequence-aware：需要“精确序列—性能”数据，空间约 2ᴺ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84080" y="65105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Battery Polymer Generation | 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3654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Arial" pitchFamily="34" charset="0"/>
                <a:ea typeface="Microsoft YaHei" pitchFamily="34" charset="-122"/>
                <a:cs typeface="Microsoft YaHei" pitchFamily="34" charset="-120"/>
              </a:rPr>
              <a:t>8. 推荐的具体课题与第一阶段边界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789920" cy="27432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/>
                <a:ea typeface="Microsoft YaHei"/>
              </a:rPr>
              <a:t>面向硫化物固态电池的多性质条件二元共聚物粘结剂生成。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15340" y="1499616"/>
            <a:ext cx="2286000" cy="530352"/>
          </a:xfrm>
          <a:prstGeom prst="rect">
            <a:avLst/>
          </a:prstGeom>
          <a:solidFill>
            <a:srgbClr val="EDF2F8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ea typeface="Microsoft YaHei"/>
              </a:rPr>
              <a:t>聚合物类型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329940" y="1499616"/>
            <a:ext cx="7818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500" dirty="0">
                <a:solidFill>
                  <a:srgbClr val="1F2937"/>
                </a:solidFill>
                <a:latin typeface="Arial"/>
                <a:ea typeface="Microsoft YaHei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rial"/>
                <a:ea typeface="Microsoft YaHei"/>
              </a:rPr>
              <a:t>线性、二元、random</a:t>
            </a:r>
            <a:r>
              <a:rPr lang="en-US" sz="1500" dirty="0">
                <a:solidFill>
                  <a:srgbClr val="1F2937"/>
                </a:solidFill>
                <a:latin typeface="Arial"/>
                <a:ea typeface="Microsoft YaHei"/>
              </a:rPr>
              <a:t> copolymer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5340" y="2340864"/>
            <a:ext cx="2286000" cy="530352"/>
          </a:xfrm>
          <a:prstGeom prst="rect">
            <a:avLst/>
          </a:prstGeom>
          <a:solidFill>
            <a:srgbClr val="EDF2F8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ea typeface="Microsoft YaHei"/>
              </a:rPr>
              <a:t>生成变量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329940" y="2340864"/>
            <a:ext cx="7818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500" dirty="0">
                <a:solidFill>
                  <a:srgbClr val="1F2937"/>
                </a:solidFill>
                <a:latin typeface="Arial"/>
                <a:ea typeface="Microsoft YaHei"/>
              </a:rPr>
              <a:t> </a:t>
            </a:r>
            <a:r>
              <a:rPr lang="en-US" sz="1500" dirty="0">
                <a:solidFill>
                  <a:srgbClr val="1F2937"/>
                </a:solidFill>
                <a:latin typeface="Arial"/>
                <a:ea typeface="Microsoft YaHei"/>
              </a:rPr>
              <a:t>Monomer A、Monomer B、composition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340" y="3182112"/>
            <a:ext cx="2286000" cy="530352"/>
          </a:xfrm>
          <a:prstGeom prst="rect">
            <a:avLst/>
          </a:prstGeom>
          <a:solidFill>
            <a:srgbClr val="EDF2F8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ea typeface="Microsoft YaHei"/>
              </a:rPr>
              <a:t>固定变量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329940" y="3182112"/>
            <a:ext cx="7818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500" dirty="0">
                <a:solidFill>
                  <a:srgbClr val="1F2937"/>
                </a:solidFill>
                <a:latin typeface="Arial"/>
                <a:ea typeface="Microsoft YaHei"/>
              </a:rPr>
              <a:t> </a:t>
            </a:r>
            <a:r>
              <a:rPr lang="en-US" sz="1500" dirty="0">
                <a:solidFill>
                  <a:srgbClr val="1F2937"/>
                </a:solidFill>
                <a:latin typeface="Arial"/>
                <a:ea typeface="Microsoft YaHei"/>
              </a:rPr>
              <a:t>Architecture 固定为 statistical/random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5340" y="4023360"/>
            <a:ext cx="2286000" cy="530352"/>
          </a:xfrm>
          <a:prstGeom prst="rect">
            <a:avLst/>
          </a:prstGeom>
          <a:solidFill>
            <a:srgbClr val="EDF2F8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ea typeface="Microsoft YaHei"/>
              </a:rPr>
              <a:t>暂不考虑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29940" y="4023360"/>
            <a:ext cx="7818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500" dirty="0">
                <a:solidFill>
                  <a:srgbClr val="1F2937"/>
                </a:solidFill>
                <a:latin typeface="Arial"/>
                <a:ea typeface="Microsoft YaHei"/>
              </a:rPr>
              <a:t> </a:t>
            </a:r>
            <a:r>
              <a:rPr lang="en-US" sz="1500" dirty="0">
                <a:solidFill>
                  <a:srgbClr val="1F2937"/>
                </a:solidFill>
                <a:latin typeface="Arial"/>
                <a:ea typeface="Microsoft YaHei"/>
              </a:rPr>
              <a:t>Exact sequence、Mn、Đ、branching、crosslinking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5340" y="4864608"/>
            <a:ext cx="2286000" cy="530352"/>
          </a:xfrm>
          <a:prstGeom prst="rect">
            <a:avLst/>
          </a:prstGeom>
          <a:solidFill>
            <a:srgbClr val="EDF2F8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ea typeface="Microsoft YaHei"/>
              </a:rPr>
              <a:t>性能条件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29940" y="4864608"/>
            <a:ext cx="7818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500" dirty="0">
                <a:solidFill>
                  <a:srgbClr val="1F2937"/>
                </a:solidFill>
                <a:latin typeface="Arial"/>
                <a:ea typeface="Microsoft YaHei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rial"/>
                <a:ea typeface="Microsoft YaHei"/>
              </a:rPr>
              <a:t>Adhesion、Oxidative</a:t>
            </a:r>
            <a:r>
              <a:rPr lang="en-US" sz="1500" dirty="0">
                <a:solidFill>
                  <a:srgbClr val="1F2937"/>
                </a:solidFill>
                <a:latin typeface="Arial"/>
                <a:ea typeface="Microsoft YaHei"/>
              </a:rPr>
              <a:t> stability，可选 Tg / mechanics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6820" y="5751576"/>
            <a:ext cx="9738360" cy="530352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547D"/>
                </a:solidFill>
                <a:latin typeface="Arial"/>
                <a:ea typeface="Microsoft YaHei"/>
              </a:rPr>
              <a:t>第一阶段目标：把问题控制在可建库、可计算、可实验验证的范围内。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84080" y="65105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Battery Polymer Generation | 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3654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Arial" pitchFamily="34" charset="0"/>
                <a:ea typeface="Microsoft YaHei" pitchFamily="34" charset="-122"/>
                <a:cs typeface="Microsoft YaHei" pitchFamily="34" charset="-120"/>
              </a:rPr>
              <a:t>9. 搜索空间规模：有限但足够大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789920" cy="27432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/>
                <a:ea typeface="Microsoft YaHei"/>
              </a:rPr>
              <a:t>先构建有化学意义的 monomer library，而不是追求无限化学空间。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5226" y="2011680"/>
            <a:ext cx="2194560" cy="105156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Arial"/>
                <a:ea typeface="Microsoft YaHei"/>
              </a:rPr>
              <a:t>100 个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Arial"/>
                <a:ea typeface="Microsoft YaHei"/>
              </a:rPr>
              <a:t>Monomer 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58386" y="2240280"/>
            <a:ext cx="411480" cy="45720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573"/>
                </a:solidFill>
                <a:latin typeface="Arial"/>
                <a:ea typeface="Microsoft YaHei"/>
              </a:rPr>
              <a:t>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07026" y="2011680"/>
            <a:ext cx="2194560" cy="105156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Arial"/>
                <a:ea typeface="Microsoft YaHei"/>
              </a:rPr>
              <a:t>100 个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Arial"/>
                <a:ea typeface="Microsoft YaHei"/>
              </a:rPr>
              <a:t>Monomer 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30186" y="2240280"/>
            <a:ext cx="411480" cy="45720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573"/>
                </a:solidFill>
                <a:latin typeface="Arial"/>
                <a:ea typeface="Microsoft YaHei"/>
              </a:rPr>
              <a:t>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78826" y="2011680"/>
            <a:ext cx="2194560" cy="1051560"/>
          </a:xfrm>
          <a:prstGeom prst="rect">
            <a:avLst/>
          </a:prstGeom>
          <a:solidFill>
            <a:srgbClr val="EDF2F8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Arial"/>
                <a:ea typeface="Microsoft YaHei"/>
              </a:rPr>
              <a:t>9 个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Arial"/>
                <a:ea typeface="Microsoft YaHei"/>
              </a:rPr>
              <a:t>Composition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56266" y="2240280"/>
            <a:ext cx="411480" cy="45720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573"/>
                </a:solidFill>
                <a:latin typeface="Arial"/>
                <a:ea typeface="Microsoft YaHei"/>
              </a:rPr>
              <a:t>=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59186" y="1828800"/>
            <a:ext cx="1783080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ea typeface="Microsoft YaHei"/>
              </a:rPr>
              <a:t>90,000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ea typeface="Microsoft YaHei"/>
              </a:rPr>
              <a:t>候选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1027" y="3959352"/>
            <a:ext cx="8549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7"/>
                </a:solidFill>
                <a:latin typeface="Arial"/>
                <a:ea typeface="Microsoft YaHei"/>
              </a:rPr>
              <a:t>扩展方案：300 × 300 × 9 ≈ 810,000 候选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17320" y="5257800"/>
            <a:ext cx="9372600" cy="603504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547D"/>
                </a:solidFill>
                <a:latin typeface="Arial"/>
                <a:ea typeface="Microsoft YaHei"/>
              </a:rPr>
              <a:t>足够支持：生成 → 筛选 → </a:t>
            </a:r>
            <a:r>
              <a:rPr lang="en-US" sz="1800" b="1" dirty="0" err="1">
                <a:solidFill>
                  <a:srgbClr val="36547D"/>
                </a:solidFill>
                <a:latin typeface="Arial"/>
                <a:ea typeface="Microsoft YaHei"/>
              </a:rPr>
              <a:t>主动学习</a:t>
            </a:r>
            <a:r>
              <a:rPr lang="en-US" sz="1800" b="1" dirty="0">
                <a:solidFill>
                  <a:srgbClr val="36547D"/>
                </a:solidFill>
                <a:latin typeface="Arial"/>
                <a:ea typeface="Microsoft YaHei"/>
              </a:rPr>
              <a:t> → DFT/MD → 实验验证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84080" y="65105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Battery Polymer Generation | 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3654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Arial" pitchFamily="34" charset="0"/>
                <a:ea typeface="Microsoft YaHei" pitchFamily="34" charset="-122"/>
                <a:cs typeface="Microsoft YaHei" pitchFamily="34" charset="-120"/>
              </a:rPr>
              <a:t>10. 推荐的整体研究流程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789920" cy="274320"/>
          </a:xfrm>
          <a:prstGeom prst="rect">
            <a:avLst/>
          </a:prstGeom>
          <a:noFill/>
          <a:ln>
            <a:solidFill>
              <a:srgbClr val="36547D"/>
            </a:solidFill>
          </a:ln>
        </p:spPr>
        <p:txBody>
          <a:bodyPr wrap="square" lIns="65000" tIns="0" rIns="6500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/>
                <a:ea typeface="Microsoft YaHei"/>
              </a:rPr>
              <a:t>从 monomer library 到 closed-loop 更新。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1947672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514600"/>
            <a:ext cx="1115568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Arial"/>
                <a:ea typeface="Microsoft YaHei"/>
              </a:rPr>
              <a:t>Monomer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Arial"/>
                <a:ea typeface="Microsoft YaHei"/>
              </a:rPr>
              <a:t>Library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572768" y="2871216"/>
            <a:ext cx="228600" cy="0"/>
          </a:xfrm>
          <a:prstGeom prst="line">
            <a:avLst/>
          </a:prstGeom>
          <a:noFill/>
          <a:ln w="1524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856232" y="2587752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56232" y="3154680"/>
            <a:ext cx="1115568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Arial"/>
                <a:ea typeface="Microsoft YaHei"/>
              </a:rPr>
              <a:t>数据集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Arial"/>
                <a:ea typeface="Microsoft YaHei"/>
              </a:rPr>
              <a:t>(M_A,M_B,x,property)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17520" y="3511296"/>
            <a:ext cx="228600" cy="0"/>
          </a:xfrm>
          <a:prstGeom prst="line">
            <a:avLst/>
          </a:prstGeom>
          <a:noFill/>
          <a:ln w="1524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300984" y="1947672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00984" y="2514600"/>
            <a:ext cx="1115568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Arial"/>
                <a:ea typeface="Microsoft YaHei"/>
              </a:rPr>
              <a:t>Model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62272" y="2871216"/>
            <a:ext cx="228600" cy="0"/>
          </a:xfrm>
          <a:prstGeom prst="line">
            <a:avLst/>
          </a:prstGeom>
          <a:noFill/>
          <a:ln w="1524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745736" y="2587752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45736" y="3154680"/>
            <a:ext cx="1115568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Arial"/>
                <a:ea typeface="Microsoft YaHei"/>
              </a:rPr>
              <a:t>Conditional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Arial"/>
                <a:ea typeface="Microsoft YaHei"/>
              </a:rPr>
              <a:t>Generator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07024" y="3511296"/>
            <a:ext cx="228600" cy="0"/>
          </a:xfrm>
          <a:prstGeom prst="line">
            <a:avLst/>
          </a:prstGeom>
          <a:noFill/>
          <a:ln w="1524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190488" y="1947672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2514600"/>
            <a:ext cx="1115568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Arial"/>
                <a:ea typeface="Microsoft YaHei"/>
              </a:rPr>
              <a:t>大规模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Arial"/>
                <a:ea typeface="Microsoft YaHei"/>
              </a:rPr>
              <a:t>筛选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51776" y="2871216"/>
            <a:ext cx="228600" cy="0"/>
          </a:xfrm>
          <a:prstGeom prst="line">
            <a:avLst/>
          </a:prstGeom>
          <a:noFill/>
          <a:ln w="1524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635240" y="2587752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Microsoft YaHei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35240" y="3154680"/>
            <a:ext cx="1115568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Arial"/>
                <a:ea typeface="Microsoft YaHei"/>
              </a:rPr>
              <a:t>DFT/MD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Arial"/>
                <a:ea typeface="Microsoft YaHei"/>
              </a:rPr>
              <a:t>弱标签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796528" y="3511296"/>
            <a:ext cx="228600" cy="0"/>
          </a:xfrm>
          <a:prstGeom prst="line">
            <a:avLst/>
          </a:prstGeom>
          <a:noFill/>
          <a:ln w="1524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079992" y="1947672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Microsoft YaHei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79992" y="2514600"/>
            <a:ext cx="1115568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Arial"/>
                <a:ea typeface="Microsoft YaHei"/>
              </a:rPr>
              <a:t>少量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Arial"/>
                <a:ea typeface="Microsoft YaHei"/>
              </a:rPr>
              <a:t>实验验证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241280" y="2871216"/>
            <a:ext cx="228600" cy="0"/>
          </a:xfrm>
          <a:prstGeom prst="line">
            <a:avLst/>
          </a:prstGeom>
          <a:noFill/>
          <a:ln w="15240">
            <a:solidFill>
              <a:srgbClr val="3654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0524744" y="2587752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Microsoft YaHei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24744" y="3154680"/>
            <a:ext cx="1115568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CBD5E1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Arial"/>
                <a:ea typeface="Microsoft YaHei"/>
              </a:rPr>
              <a:t>Closed-loop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Arial"/>
                <a:ea typeface="Microsoft YaHei"/>
              </a:rPr>
              <a:t>更新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234440" y="5102352"/>
            <a:ext cx="9738360" cy="603504"/>
          </a:xfrm>
          <a:prstGeom prst="rect">
            <a:avLst/>
          </a:prstGeom>
          <a:solidFill>
            <a:srgbClr val="F6F8FB"/>
          </a:solidFill>
          <a:ln w="12700">
            <a:solidFill>
              <a:srgbClr val="36547D"/>
            </a:solidFill>
          </a:ln>
        </p:spPr>
        <p:txBody>
          <a:bodyPr wrap="square" lIns="65000" tIns="889" rIns="65000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36547D"/>
                </a:solidFill>
                <a:latin typeface="Arial"/>
                <a:ea typeface="Microsoft YaHei"/>
              </a:rPr>
              <a:t>核心闭环：实验结果回流模型，持续更新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84080" y="65105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65000" tIns="0" rIns="6500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Battery Polymer Generation |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741</Words>
  <Application>Microsoft Macintosh PowerPoint</Application>
  <PresentationFormat>宽屏</PresentationFormat>
  <Paragraphs>239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聚合物生成课题：生成目标选择与研究路线建议</dc:title>
  <dc:subject>电池材料方向聚合物生成课题</dc:subject>
  <dc:creator>OpenAI</dc:creator>
  <cp:lastModifiedBy>Zhang Ting</cp:lastModifiedBy>
  <cp:revision>4</cp:revision>
  <dcterms:created xsi:type="dcterms:W3CDTF">2026-10-06T12:38:33Z</dcterms:created>
  <dcterms:modified xsi:type="dcterms:W3CDTF">2026-10-06T13:30:00Z</dcterms:modified>
</cp:coreProperties>
</file>